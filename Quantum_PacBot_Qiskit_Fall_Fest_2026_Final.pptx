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2e1b5b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BE16AD1-E977-4082-8B94-7EC0D4F1C3E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3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9F1266-1702-48F3-B5E3-CBAFFC26158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BA437CC-5ACB-42BB-8C6C-BCA89427E3D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5823D58-FCBE-4562-9486-5695980256A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6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40E020C-86C7-404C-BD96-336B34A7029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7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FFE54C-2B7F-4153-A077-220E46FF3EE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8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07B26CC-DF85-474B-A2E8-804ED3B0675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9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BA3AEA-DCB9-4377-A3FB-27557966D9E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20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505A6F3-CC6A-4DBD-9B42-1CB1D7AD247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21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5623060-C007-4C24-9AC5-41D1C451184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22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9E150DF-931A-4546-83E2-3458D7BDDED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EAEA559-FCA5-4F43-8B78-D93BE5C86B27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4990538-0EF6-4532-959C-886D98B50630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7ABB822-006D-4A19-B5A4-0D40DD13B19C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66EE9D3-8801-42C1-80C3-273BA920661B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C6D6C88-93A8-4E49-A8C7-607569BA6433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3EEC74D-7BE8-4CAD-88C4-37607A12A221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1DF7AAA-FCAA-4606-B526-3DB7125E998F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7A29013-2E98-4947-B701-7807F55B95F0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C96E3DB-D4EF-41BA-AE64-53F482549422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9E42D8D-BE40-4C0F-821D-6C24EBB56A38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5B507FF-9E4B-479C-AFDE-A5D4469FCA7E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8F679E6-D8EB-4557-96B2-DCD56E87763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Shape 1"/>
          <p:cNvSpPr/>
          <p:nvPr/>
        </p:nvSpPr>
        <p:spPr>
          <a:xfrm>
            <a:off x="0" y="658440"/>
            <a:ext cx="305388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Shape 2"/>
          <p:cNvSpPr/>
          <p:nvPr/>
        </p:nvSpPr>
        <p:spPr>
          <a:xfrm>
            <a:off x="3054240" y="658440"/>
            <a:ext cx="305388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Shape 3"/>
          <p:cNvSpPr/>
          <p:nvPr/>
        </p:nvSpPr>
        <p:spPr>
          <a:xfrm>
            <a:off x="6099120" y="658440"/>
            <a:ext cx="305388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" name="Image 0" descr="vtu_c.png"/>
          <p:cNvPicPr/>
          <p:nvPr/>
        </p:nvPicPr>
        <p:blipFill>
          <a:blip r:embed="rId2"/>
          <a:stretch/>
        </p:blipFill>
        <p:spPr>
          <a:xfrm>
            <a:off x="365760" y="9144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5" name="Text 4"/>
          <p:cNvSpPr/>
          <p:nvPr/>
        </p:nvSpPr>
        <p:spPr>
          <a:xfrm>
            <a:off x="932760" y="9144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hi-IN" sz="950" spc="-1" strike="noStrike">
                <a:solidFill>
                  <a:srgbClr val="2e1b5b"/>
                </a:solidFill>
                <a:latin typeface="Nirmala UI"/>
                <a:cs typeface="Nirmala UI"/>
              </a:rPr>
              <a:t>ವಿಶ್ವೇಶ್ವರಯ್ಯ ತಾಂತ್ರಿಕ ವಿಶ್ವವಿದ್ಯಾಲಯ</a:t>
            </a:r>
            <a:r>
              <a:rPr b="1" lang="en-US" sz="950" spc="-1" strike="noStrike">
                <a:solidFill>
                  <a:srgbClr val="2e1b5b"/>
                </a:solidFill>
                <a:latin typeface="Nirmala UI"/>
                <a:ea typeface="Nirmala UI"/>
              </a:rPr>
              <a:t>, </a:t>
            </a:r>
            <a:r>
              <a:rPr b="1" lang="hi-IN" sz="950" spc="-1" strike="noStrike">
                <a:solidFill>
                  <a:srgbClr val="2e1b5b"/>
                </a:solidFill>
                <a:latin typeface="Nirmala UI"/>
                <a:cs typeface="Nirmala UI"/>
              </a:rPr>
              <a:t>ಬೆಳಗಾವಿ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" name="Text 5"/>
          <p:cNvSpPr/>
          <p:nvPr/>
        </p:nvSpPr>
        <p:spPr>
          <a:xfrm>
            <a:off x="932760" y="33840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2e1b5b"/>
                </a:solidFill>
                <a:latin typeface="Calibri"/>
                <a:ea typeface="Calibri"/>
              </a:rPr>
              <a:t>Visvesvaraya Technological University, Belagavi</a:t>
            </a:r>
            <a:endParaRPr b="0" lang="en-US" sz="950" spc="-1" strike="noStrike">
              <a:latin typeface="Arial"/>
            </a:endParaRPr>
          </a:p>
        </p:txBody>
      </p:sp>
      <p:pic>
        <p:nvPicPr>
          <p:cNvPr id="7" name="Image 1" descr="quc_d.png"/>
          <p:cNvPicPr/>
          <p:nvPr/>
        </p:nvPicPr>
        <p:blipFill>
          <a:blip r:embed="rId3"/>
          <a:stretch/>
        </p:blipFill>
        <p:spPr>
          <a:xfrm>
            <a:off x="4260960" y="91440"/>
            <a:ext cx="612360" cy="475200"/>
          </a:xfrm>
          <a:prstGeom prst="rect">
            <a:avLst/>
          </a:prstGeom>
          <a:ln w="0">
            <a:noFill/>
          </a:ln>
        </p:spPr>
      </p:pic>
      <p:sp>
        <p:nvSpPr>
          <p:cNvPr id="8" name="Text 6"/>
          <p:cNvSpPr/>
          <p:nvPr/>
        </p:nvSpPr>
        <p:spPr>
          <a:xfrm>
            <a:off x="5394960" y="109800"/>
            <a:ext cx="278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199" strike="noStrike">
                <a:solidFill>
                  <a:srgbClr val="2e1b5b"/>
                </a:solidFill>
                <a:latin typeface="Calibri"/>
              </a:rPr>
              <a:t>QISKIT FALL FEST 2026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94960" y="36576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97" strike="noStrike">
                <a:solidFill>
                  <a:srgbClr val="5b3ba8"/>
                </a:solidFill>
                <a:latin typeface="Calibri"/>
              </a:rPr>
              <a:t>IBM Quantum</a:t>
            </a:r>
            <a:endParaRPr b="0" lang="en-US" sz="950" spc="-1" strike="noStrike">
              <a:latin typeface="Arial"/>
            </a:endParaRPr>
          </a:p>
        </p:txBody>
      </p:sp>
      <p:pic>
        <p:nvPicPr>
          <p:cNvPr id="10" name="Image 2" descr="badge_c.png"/>
          <p:cNvPicPr/>
          <p:nvPr/>
        </p:nvPicPr>
        <p:blipFill>
          <a:blip r:embed="rId4"/>
          <a:stretch/>
        </p:blipFill>
        <p:spPr>
          <a:xfrm>
            <a:off x="8302680" y="9144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11" name="Shape 8"/>
          <p:cNvSpPr/>
          <p:nvPr/>
        </p:nvSpPr>
        <p:spPr>
          <a:xfrm>
            <a:off x="0" y="4827960"/>
            <a:ext cx="9143640" cy="315000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" name="Shape 9"/>
          <p:cNvSpPr/>
          <p:nvPr/>
        </p:nvSpPr>
        <p:spPr>
          <a:xfrm>
            <a:off x="0" y="4827960"/>
            <a:ext cx="3053880" cy="36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" name="Shape 10"/>
          <p:cNvSpPr/>
          <p:nvPr/>
        </p:nvSpPr>
        <p:spPr>
          <a:xfrm>
            <a:off x="3054240" y="4827960"/>
            <a:ext cx="3053880" cy="36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" name="Shape 11"/>
          <p:cNvSpPr/>
          <p:nvPr/>
        </p:nvSpPr>
        <p:spPr>
          <a:xfrm>
            <a:off x="6099120" y="4827960"/>
            <a:ext cx="3053880" cy="36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" name="Text 12"/>
          <p:cNvSpPr/>
          <p:nvPr/>
        </p:nvSpPr>
        <p:spPr>
          <a:xfrm>
            <a:off x="457200" y="486468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199" strike="noStrike">
                <a:solidFill>
                  <a:srgbClr val="2e1b5b"/>
                </a:solidFill>
                <a:latin typeface="Calibri"/>
              </a:rPr>
              <a:t>QISKIT FALL FEST 2026  ·  HOSTED BY VTU, BELAGAVI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43600" y="486468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199" strike="noStrike">
                <a:solidFill>
                  <a:srgbClr val="5b3ba8"/>
                </a:solidFill>
                <a:latin typeface="Calibri"/>
              </a:rPr>
              <a:t>27 – 31 OCT 2026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2e1b5b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e1b5b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2e1b5b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2e1b5b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e1b5b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2e1b5b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2e1b5b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2e1b5b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e1b5b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2e1b5b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e1b5b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2e1b5b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e1b5b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2e1b5b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1"/>
          <p:cNvSpPr/>
          <p:nvPr/>
        </p:nvSpPr>
        <p:spPr>
          <a:xfrm>
            <a:off x="0" y="658440"/>
            <a:ext cx="305388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Shape 2"/>
          <p:cNvSpPr/>
          <p:nvPr/>
        </p:nvSpPr>
        <p:spPr>
          <a:xfrm>
            <a:off x="3054240" y="658440"/>
            <a:ext cx="305388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Shape 3"/>
          <p:cNvSpPr/>
          <p:nvPr/>
        </p:nvSpPr>
        <p:spPr>
          <a:xfrm>
            <a:off x="6099120" y="658440"/>
            <a:ext cx="305388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9" name="Image 0" descr="vtu_c.png"/>
          <p:cNvPicPr/>
          <p:nvPr/>
        </p:nvPicPr>
        <p:blipFill>
          <a:blip r:embed="rId2"/>
          <a:stretch/>
        </p:blipFill>
        <p:spPr>
          <a:xfrm>
            <a:off x="365760" y="9144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60" name="Text 4"/>
          <p:cNvSpPr/>
          <p:nvPr/>
        </p:nvSpPr>
        <p:spPr>
          <a:xfrm>
            <a:off x="932760" y="9144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hi-IN" sz="950" spc="-1" strike="noStrike">
                <a:solidFill>
                  <a:srgbClr val="2e1b5b"/>
                </a:solidFill>
                <a:latin typeface="Nirmala UI"/>
                <a:cs typeface="Nirmala UI"/>
              </a:rPr>
              <a:t>ವಿಶ್ವೇಶ್ವರಯ್ಯ ತಾಂತ್ರಿಕ ವಿಶ್ವವಿದ್ಯಾಲಯ</a:t>
            </a:r>
            <a:r>
              <a:rPr b="1" lang="en-US" sz="950" spc="-1" strike="noStrike">
                <a:solidFill>
                  <a:srgbClr val="2e1b5b"/>
                </a:solidFill>
                <a:latin typeface="Nirmala UI"/>
                <a:ea typeface="Nirmala UI"/>
              </a:rPr>
              <a:t>, </a:t>
            </a:r>
            <a:r>
              <a:rPr b="1" lang="hi-IN" sz="950" spc="-1" strike="noStrike">
                <a:solidFill>
                  <a:srgbClr val="2e1b5b"/>
                </a:solidFill>
                <a:latin typeface="Nirmala UI"/>
                <a:cs typeface="Nirmala UI"/>
              </a:rPr>
              <a:t>ಬೆಳಗಾವಿ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932760" y="33840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2e1b5b"/>
                </a:solidFill>
                <a:latin typeface="Calibri"/>
                <a:ea typeface="Calibri"/>
              </a:rPr>
              <a:t>Visvesvaraya Technological University, Belagavi</a:t>
            </a:r>
            <a:endParaRPr b="0" lang="en-US" sz="950" spc="-1" strike="noStrike">
              <a:latin typeface="Arial"/>
            </a:endParaRPr>
          </a:p>
        </p:txBody>
      </p:sp>
      <p:pic>
        <p:nvPicPr>
          <p:cNvPr id="62" name="Image 1" descr="quc_d.png"/>
          <p:cNvPicPr/>
          <p:nvPr/>
        </p:nvPicPr>
        <p:blipFill>
          <a:blip r:embed="rId3"/>
          <a:stretch/>
        </p:blipFill>
        <p:spPr>
          <a:xfrm>
            <a:off x="4260960" y="91440"/>
            <a:ext cx="612360" cy="475200"/>
          </a:xfrm>
          <a:prstGeom prst="rect">
            <a:avLst/>
          </a:prstGeom>
          <a:ln w="0">
            <a:noFill/>
          </a:ln>
        </p:spPr>
      </p:pic>
      <p:sp>
        <p:nvSpPr>
          <p:cNvPr id="63" name="Text 6"/>
          <p:cNvSpPr/>
          <p:nvPr/>
        </p:nvSpPr>
        <p:spPr>
          <a:xfrm>
            <a:off x="5394960" y="109800"/>
            <a:ext cx="278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199" strike="noStrike">
                <a:solidFill>
                  <a:srgbClr val="2e1b5b"/>
                </a:solidFill>
                <a:latin typeface="Calibri"/>
              </a:rPr>
              <a:t>QISKIT FALL FEST 2026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5394960" y="36576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97" strike="noStrike">
                <a:solidFill>
                  <a:srgbClr val="5b3ba8"/>
                </a:solidFill>
                <a:latin typeface="Calibri"/>
              </a:rPr>
              <a:t>IBM Quantum</a:t>
            </a:r>
            <a:endParaRPr b="0" lang="en-US" sz="950" spc="-1" strike="noStrike">
              <a:latin typeface="Arial"/>
            </a:endParaRPr>
          </a:p>
        </p:txBody>
      </p:sp>
      <p:pic>
        <p:nvPicPr>
          <p:cNvPr id="65" name="Image 2" descr="badge_c.png"/>
          <p:cNvPicPr/>
          <p:nvPr/>
        </p:nvPicPr>
        <p:blipFill>
          <a:blip r:embed="rId4"/>
          <a:stretch/>
        </p:blipFill>
        <p:spPr>
          <a:xfrm>
            <a:off x="8302680" y="9144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66" name="Shape 8"/>
          <p:cNvSpPr/>
          <p:nvPr/>
        </p:nvSpPr>
        <p:spPr>
          <a:xfrm>
            <a:off x="0" y="4827960"/>
            <a:ext cx="9143640" cy="315000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Shape 9"/>
          <p:cNvSpPr/>
          <p:nvPr/>
        </p:nvSpPr>
        <p:spPr>
          <a:xfrm>
            <a:off x="0" y="4827960"/>
            <a:ext cx="3053880" cy="36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Shape 10"/>
          <p:cNvSpPr/>
          <p:nvPr/>
        </p:nvSpPr>
        <p:spPr>
          <a:xfrm>
            <a:off x="3054240" y="4827960"/>
            <a:ext cx="3053880" cy="36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Shape 11"/>
          <p:cNvSpPr/>
          <p:nvPr/>
        </p:nvSpPr>
        <p:spPr>
          <a:xfrm>
            <a:off x="6099120" y="4827960"/>
            <a:ext cx="3053880" cy="36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12"/>
          <p:cNvSpPr/>
          <p:nvPr/>
        </p:nvSpPr>
        <p:spPr>
          <a:xfrm>
            <a:off x="457200" y="486468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199" strike="noStrike">
                <a:solidFill>
                  <a:srgbClr val="2e1b5b"/>
                </a:solidFill>
                <a:latin typeface="Calibri"/>
              </a:rPr>
              <a:t>QISKIT FALL FEST 2026  ·  HOSTED BY VTU, BELAGAVI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5943600" y="486468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199" strike="noStrike">
                <a:solidFill>
                  <a:srgbClr val="5b3ba8"/>
                </a:solidFill>
                <a:latin typeface="Calibri"/>
              </a:rPr>
              <a:t>27 – 31 OCT 2026</a:t>
            </a:r>
            <a:endParaRPr b="0" lang="en-US" sz="850" spc="-1" strike="noStrike">
              <a:latin typeface="Arial"/>
            </a:endParaRPr>
          </a:p>
        </p:txBody>
      </p:sp>
      <p:pic>
        <p:nvPicPr>
          <p:cNvPr id="72" name="Image 3" descr="sphere.png"/>
          <p:cNvPicPr/>
          <p:nvPr/>
        </p:nvPicPr>
        <p:blipFill>
          <a:blip r:embed="rId5"/>
          <a:stretch/>
        </p:blipFill>
        <p:spPr>
          <a:xfrm>
            <a:off x="7909560" y="822960"/>
            <a:ext cx="776880" cy="776880"/>
          </a:xfrm>
          <a:prstGeom prst="rect">
            <a:avLst/>
          </a:prstGeom>
          <a:ln w="0">
            <a:noFill/>
          </a:ln>
        </p:spPr>
      </p:pic>
      <p:pic>
        <p:nvPicPr>
          <p:cNvPr id="73" name="Image 4" descr="bird1.png"/>
          <p:cNvPicPr/>
          <p:nvPr/>
        </p:nvPicPr>
        <p:blipFill>
          <a:blip r:embed="rId6"/>
          <a:stretch/>
        </p:blipFill>
        <p:spPr>
          <a:xfrm>
            <a:off x="7086600" y="868680"/>
            <a:ext cx="548280" cy="328680"/>
          </a:xfrm>
          <a:prstGeom prst="rect">
            <a:avLst/>
          </a:prstGeom>
          <a:ln w="0">
            <a:noFill/>
          </a:ln>
        </p:spPr>
      </p:pic>
      <p:pic>
        <p:nvPicPr>
          <p:cNvPr id="74" name="Image 5" descr="bird2.png"/>
          <p:cNvPicPr/>
          <p:nvPr/>
        </p:nvPicPr>
        <p:blipFill>
          <a:blip r:embed="rId7"/>
          <a:stretch/>
        </p:blipFill>
        <p:spPr>
          <a:xfrm>
            <a:off x="6903720" y="1261800"/>
            <a:ext cx="383760" cy="228240"/>
          </a:xfrm>
          <a:prstGeom prst="rect">
            <a:avLst/>
          </a:prstGeom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600" spc="-1" strike="noStrike">
                <a:solidFill>
                  <a:srgbClr val="2e1b5b"/>
                </a:solidFill>
                <a:latin typeface="Calibri"/>
              </a:rPr>
              <a:t>Click to edit the title text format</a:t>
            </a:r>
            <a:endParaRPr b="0" lang="en-US" sz="26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1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1" lang="en-US" sz="900" spc="-1" strike="noStrike">
                <a:solidFill>
                  <a:srgbClr val="2e1b5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988249-9C49-4B97-9BBA-523C4C7CEC3E}" type="slidenum">
              <a:rPr b="1" lang="en-US" sz="900" spc="-1" strike="noStrike">
                <a:solidFill>
                  <a:srgbClr val="2e1b5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e1b5b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2e1b5b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2e1b5b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2e1b5b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e1b5b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2e1b5b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2e1b5b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2e1b5b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e1b5b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2e1b5b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e1b5b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2e1b5b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e1b5b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2e1b5b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57200" y="91440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299" strike="noStrike">
                <a:solidFill>
                  <a:srgbClr val="e8639f"/>
                </a:solidFill>
                <a:latin typeface="Calibri"/>
                <a:ea typeface="Calibri"/>
              </a:rPr>
              <a:t>PARTICIPANT PRESENTATION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57200" y="1234440"/>
            <a:ext cx="33829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2e1b5b"/>
                </a:solidFill>
                <a:latin typeface="Georgia"/>
                <a:ea typeface="Georgia"/>
              </a:rPr>
              <a:t>Qiskit</a:t>
            </a:r>
            <a:endParaRPr b="0" lang="en-US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e8639f"/>
                </a:solidFill>
                <a:latin typeface="Georgia"/>
                <a:ea typeface="Georgia"/>
              </a:rPr>
              <a:t>Fall Fest</a:t>
            </a:r>
            <a:endParaRPr b="0" lang="en-US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2e1b5b"/>
                </a:solidFill>
                <a:latin typeface="Georgia"/>
                <a:ea typeface="Georgia"/>
              </a:rPr>
              <a:t>2026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457200" y="301752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4380"/>
                </a:solidFill>
                <a:latin typeface="Calibri"/>
                <a:ea typeface="Calibri"/>
              </a:rPr>
              <a:t>Hackathon · Team Details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123" name="Bloch sphere ring" descr="sphere.png"/>
          <p:cNvPicPr/>
          <p:nvPr/>
        </p:nvPicPr>
        <p:blipFill>
          <a:blip r:embed="rId1"/>
          <a:stretch/>
        </p:blipFill>
        <p:spPr>
          <a:xfrm>
            <a:off x="457200" y="3291840"/>
            <a:ext cx="1371240" cy="1371240"/>
          </a:xfrm>
          <a:prstGeom prst="rect">
            <a:avLst/>
          </a:prstGeom>
          <a:ln w="0">
            <a:noFill/>
          </a:ln>
        </p:spPr>
      </p:pic>
      <p:pic>
        <p:nvPicPr>
          <p:cNvPr id="124" name="Image 1" descr="bird1.png"/>
          <p:cNvPicPr/>
          <p:nvPr/>
        </p:nvPicPr>
        <p:blipFill>
          <a:blip r:embed="rId2"/>
          <a:stretch/>
        </p:blipFill>
        <p:spPr>
          <a:xfrm>
            <a:off x="2148840" y="3429000"/>
            <a:ext cx="731160" cy="438480"/>
          </a:xfrm>
          <a:prstGeom prst="rect">
            <a:avLst/>
          </a:prstGeom>
          <a:ln w="0">
            <a:noFill/>
          </a:ln>
        </p:spPr>
      </p:pic>
      <p:pic>
        <p:nvPicPr>
          <p:cNvPr id="125" name="Image 2" descr="bird2.png"/>
          <p:cNvPicPr/>
          <p:nvPr/>
        </p:nvPicPr>
        <p:blipFill>
          <a:blip r:embed="rId3"/>
          <a:stretch/>
        </p:blipFill>
        <p:spPr>
          <a:xfrm>
            <a:off x="2880360" y="3977640"/>
            <a:ext cx="502560" cy="301320"/>
          </a:xfrm>
          <a:prstGeom prst="rect">
            <a:avLst/>
          </a:prstGeom>
          <a:ln w="0">
            <a:noFill/>
          </a:ln>
        </p:spPr>
      </p:pic>
      <p:pic>
        <p:nvPicPr>
          <p:cNvPr id="126" name="Image 3" descr="bird3.png"/>
          <p:cNvPicPr/>
          <p:nvPr/>
        </p:nvPicPr>
        <p:blipFill>
          <a:blip r:embed="rId4"/>
          <a:stretch/>
        </p:blipFill>
        <p:spPr>
          <a:xfrm>
            <a:off x="2331720" y="4297680"/>
            <a:ext cx="383760" cy="228240"/>
          </a:xfrm>
          <a:prstGeom prst="rect">
            <a:avLst/>
          </a:prstGeom>
          <a:ln w="0">
            <a:noFill/>
          </a:ln>
        </p:spPr>
      </p:pic>
      <p:sp>
        <p:nvSpPr>
          <p:cNvPr id="127" name="Text 3"/>
          <p:cNvSpPr/>
          <p:nvPr/>
        </p:nvSpPr>
        <p:spPr>
          <a:xfrm>
            <a:off x="4023360" y="84132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e1b5b"/>
                </a:solidFill>
                <a:latin typeface="Georgia"/>
                <a:ea typeface="Georgia"/>
              </a:rPr>
              <a:t>Participant Details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28" name="Field: PROJECT TITLE"/>
          <p:cNvSpPr/>
          <p:nvPr/>
        </p:nvSpPr>
        <p:spPr>
          <a:xfrm>
            <a:off x="4023360" y="1261800"/>
            <a:ext cx="46630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2e1b5b"/>
                </a:solidFill>
                <a:latin typeface="Calibri"/>
              </a:rPr>
              <a:t>PROJECT TITLE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2e1b5b"/>
                </a:solidFill>
                <a:latin typeface="Calibri"/>
              </a:rPr>
              <a:t>Quantum PacBot 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9" name="Field: TRACK"/>
          <p:cNvSpPr/>
          <p:nvPr/>
        </p:nvSpPr>
        <p:spPr>
          <a:xfrm>
            <a:off x="4023360" y="1865520"/>
            <a:ext cx="228564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e1b5b"/>
                </a:solidFill>
                <a:latin typeface="Calibri"/>
              </a:rPr>
              <a:t>TRACK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e1b5b"/>
                </a:solidFill>
                <a:latin typeface="Calibri"/>
              </a:rPr>
              <a:t>Quantum Computing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0" name="Field: TEAM NAME"/>
          <p:cNvSpPr/>
          <p:nvPr/>
        </p:nvSpPr>
        <p:spPr>
          <a:xfrm>
            <a:off x="6400800" y="1865520"/>
            <a:ext cx="228564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e1b5b"/>
                </a:solidFill>
                <a:latin typeface="Calibri"/>
              </a:rPr>
              <a:t>TEAM NAME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e1b5b"/>
                </a:solidFill>
                <a:latin typeface="Calibri"/>
              </a:rPr>
              <a:t>Blazing Fire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1" name="Field: TEAM LEADER"/>
          <p:cNvSpPr/>
          <p:nvPr/>
        </p:nvSpPr>
        <p:spPr>
          <a:xfrm>
            <a:off x="4023360" y="2468880"/>
            <a:ext cx="228564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e1b5b"/>
                </a:solidFill>
                <a:latin typeface="Calibri"/>
              </a:rPr>
              <a:t>TEAM LEADER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e1b5b"/>
                </a:solidFill>
                <a:latin typeface="Calibri"/>
              </a:rPr>
              <a:t>Milinda B Raj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2" name="Field: EMAIL / CONTACT"/>
          <p:cNvSpPr/>
          <p:nvPr/>
        </p:nvSpPr>
        <p:spPr>
          <a:xfrm>
            <a:off x="6400800" y="2468880"/>
            <a:ext cx="228564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e1b5b"/>
                </a:solidFill>
                <a:latin typeface="Calibri"/>
              </a:rPr>
              <a:t>EMAIL / CONTACT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e1b5b"/>
                </a:solidFill>
                <a:latin typeface="Calibri"/>
              </a:rPr>
              <a:t>m77748712@gmail.com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3" name="Field: TEAM MEMBERS"/>
          <p:cNvSpPr/>
          <p:nvPr/>
        </p:nvSpPr>
        <p:spPr>
          <a:xfrm>
            <a:off x="4023360" y="3072240"/>
            <a:ext cx="4663080" cy="7768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e1b5b"/>
                </a:solidFill>
                <a:latin typeface="Calibri"/>
              </a:rPr>
              <a:t>TEAM MEMBERS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e1b5b"/>
                </a:solidFill>
                <a:latin typeface="Calibri"/>
              </a:rPr>
              <a:t>Milinda B Raj  ·  Nuthan K G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4" name="Field: INSTITUTION / ORGANISATION"/>
          <p:cNvSpPr/>
          <p:nvPr/>
        </p:nvSpPr>
        <p:spPr>
          <a:xfrm>
            <a:off x="4023360" y="3922920"/>
            <a:ext cx="2285640" cy="6490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2e1b5b"/>
                </a:solidFill>
                <a:latin typeface="Calibri"/>
              </a:rPr>
              <a:t>INSTITUTION/ORGANISATION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2e1b5b"/>
                </a:solidFill>
                <a:latin typeface="Calibri"/>
              </a:rPr>
              <a:t>PES Institute of Technology and Management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5" name="Field: COUNTRY"/>
          <p:cNvSpPr/>
          <p:nvPr/>
        </p:nvSpPr>
        <p:spPr>
          <a:xfrm>
            <a:off x="6400800" y="3922920"/>
            <a:ext cx="228564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e1b5b"/>
                </a:solidFill>
                <a:latin typeface="Calibri"/>
              </a:rPr>
              <a:t>COUNTRY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e1b5b"/>
                </a:solidFill>
                <a:latin typeface="Calibri"/>
              </a:rPr>
              <a:t>India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2e1b5b"/>
                </a:solidFill>
                <a:latin typeface="Georgia"/>
                <a:ea typeface="Georgia"/>
              </a:rPr>
              <a:t>Problem Statement</a:t>
            </a:r>
            <a:endParaRPr b="0" lang="en-US" sz="26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37" name="Title accent"/>
          <p:cNvSpPr/>
          <p:nvPr/>
        </p:nvSpPr>
        <p:spPr>
          <a:xfrm>
            <a:off x="457200" y="1463040"/>
            <a:ext cx="25560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itle accent"/>
          <p:cNvSpPr/>
          <p:nvPr/>
        </p:nvSpPr>
        <p:spPr>
          <a:xfrm>
            <a:off x="731520" y="1463040"/>
            <a:ext cx="25560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itle accent"/>
          <p:cNvSpPr/>
          <p:nvPr/>
        </p:nvSpPr>
        <p:spPr>
          <a:xfrm>
            <a:off x="1005840" y="1463040"/>
            <a:ext cx="25560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Content card"/>
          <p:cNvSpPr/>
          <p:nvPr/>
        </p:nvSpPr>
        <p:spPr>
          <a:xfrm>
            <a:off x="457200" y="1691640"/>
            <a:ext cx="822924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Card accent"/>
          <p:cNvSpPr/>
          <p:nvPr/>
        </p:nvSpPr>
        <p:spPr>
          <a:xfrm>
            <a:off x="685800" y="1691640"/>
            <a:ext cx="822600" cy="54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6"/>
          <p:cNvSpPr/>
          <p:nvPr/>
        </p:nvSpPr>
        <p:spPr>
          <a:xfrm>
            <a:off x="731520" y="18745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36720" anchor="t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A maze-solving robot must perceive nearby walls, choose a safe route, turn accurately, and recover when a corridor is blocked.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Fixed movement rules can fail at junctions, dead ends, or changing layouts. Sensor noise and imperfect turns can cause repeated loops or collisions.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Can classical maze navigation be combined with quantum-inspired / hybrid optimization experiments to compare route quality and decision efficiency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ldNum" idx="5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1" lang="en-US" sz="900" spc="-1" strike="noStrike">
                <a:solidFill>
                  <a:srgbClr val="2e1b5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2F95095-4AC7-45EB-8654-A8CF838D116B}" type="slidenum">
              <a:rPr b="1" lang="en-US" sz="900" spc="-1" strike="noStrike">
                <a:solidFill>
                  <a:srgbClr val="2e1b5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2e1b5b"/>
                </a:solidFill>
                <a:latin typeface="Georgia"/>
                <a:ea typeface="Georgia"/>
              </a:rPr>
              <a:t>Objectives &amp; Novelty</a:t>
            </a:r>
            <a:endParaRPr b="0" lang="en-US" sz="26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45" name="Title accent"/>
          <p:cNvSpPr/>
          <p:nvPr/>
        </p:nvSpPr>
        <p:spPr>
          <a:xfrm>
            <a:off x="457200" y="1463040"/>
            <a:ext cx="25560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itle accent"/>
          <p:cNvSpPr/>
          <p:nvPr/>
        </p:nvSpPr>
        <p:spPr>
          <a:xfrm>
            <a:off x="731520" y="1463040"/>
            <a:ext cx="25560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itle accent"/>
          <p:cNvSpPr/>
          <p:nvPr/>
        </p:nvSpPr>
        <p:spPr>
          <a:xfrm>
            <a:off x="1005840" y="1463040"/>
            <a:ext cx="25560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Content card"/>
          <p:cNvSpPr/>
          <p:nvPr/>
        </p:nvSpPr>
        <p:spPr>
          <a:xfrm>
            <a:off x="228960" y="1417680"/>
            <a:ext cx="822924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Card accent"/>
          <p:cNvSpPr/>
          <p:nvPr/>
        </p:nvSpPr>
        <p:spPr>
          <a:xfrm>
            <a:off x="685800" y="1691640"/>
            <a:ext cx="822600" cy="54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6"/>
          <p:cNvSpPr/>
          <p:nvPr/>
        </p:nvSpPr>
        <p:spPr>
          <a:xfrm>
            <a:off x="1143000" y="205740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36720" anchor="t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Read front / left / right distance sensors and estimate whether each passage is open or blocked.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Represent explored cells and connections as a graph; update the map when new information arrives.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Use BFS for unweighted shortest paths or A* for heuristic-guided planning; replan after a new obstacle is detected.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Use wheel control, gyro feedback, and turn-state logic to execute straight movement and 90° turns.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sldNum" idx="6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1" lang="en-US" sz="900" spc="-1" strike="noStrike">
                <a:solidFill>
                  <a:srgbClr val="2e1b5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F47D539-C37A-4275-A246-019AA51BD39C}" type="slidenum">
              <a:rPr b="1" lang="en-US" sz="900" spc="-1" strike="noStrike">
                <a:solidFill>
                  <a:srgbClr val="2e1b5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2e1b5b"/>
                </a:solidFill>
                <a:latin typeface="Georgia"/>
                <a:ea typeface="Georgia"/>
              </a:rPr>
              <a:t>Solution &amp; Quantum Advantage</a:t>
            </a:r>
            <a:endParaRPr b="0" lang="en-US" sz="26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53" name="Title accent"/>
          <p:cNvSpPr/>
          <p:nvPr/>
        </p:nvSpPr>
        <p:spPr>
          <a:xfrm>
            <a:off x="457200" y="1463040"/>
            <a:ext cx="25560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itle accent"/>
          <p:cNvSpPr/>
          <p:nvPr/>
        </p:nvSpPr>
        <p:spPr>
          <a:xfrm>
            <a:off x="731520" y="1463040"/>
            <a:ext cx="25560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itle accent"/>
          <p:cNvSpPr/>
          <p:nvPr/>
        </p:nvSpPr>
        <p:spPr>
          <a:xfrm>
            <a:off x="1005840" y="1463040"/>
            <a:ext cx="25560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Content card"/>
          <p:cNvSpPr/>
          <p:nvPr/>
        </p:nvSpPr>
        <p:spPr>
          <a:xfrm>
            <a:off x="457200" y="1691640"/>
            <a:ext cx="822924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Card accent"/>
          <p:cNvSpPr/>
          <p:nvPr/>
        </p:nvSpPr>
        <p:spPr>
          <a:xfrm>
            <a:off x="685800" y="1691640"/>
            <a:ext cx="822600" cy="54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6"/>
          <p:cNvSpPr/>
          <p:nvPr/>
        </p:nvSpPr>
        <p:spPr>
          <a:xfrm>
            <a:off x="731520" y="18745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36720" anchor="t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Sense → update map → choose next cell → control wheels → verify movement → replan if needed.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BFS gives shortest paths on unweighted grids; A* uses a heuristic; Dijkstra handles weighted travel costs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Encode a small route-selection problem as a cost function / QUBO and test QAOA or another suitable hybrid method with Qiskit.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Compare against BFS / A* and classical optimization using identical maze instances, objective functions, and compute budgets.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ldNum" idx="7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1" lang="en-US" sz="900" spc="-1" strike="noStrike">
                <a:solidFill>
                  <a:srgbClr val="2e1b5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9129AC-FF9B-4DCB-9FC0-276A7047AD41}" type="slidenum">
              <a:rPr b="1" lang="en-US" sz="900" spc="-1" strike="noStrike">
                <a:solidFill>
                  <a:srgbClr val="2e1b5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2e1b5b"/>
                </a:solidFill>
                <a:latin typeface="Georgia"/>
                <a:ea typeface="Georgia"/>
              </a:rPr>
              <a:t>Algorithm &amp; Circuit Design</a:t>
            </a:r>
            <a:endParaRPr b="0" lang="en-US" sz="26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61" name="Title accent"/>
          <p:cNvSpPr/>
          <p:nvPr/>
        </p:nvSpPr>
        <p:spPr>
          <a:xfrm>
            <a:off x="457200" y="1463040"/>
            <a:ext cx="25560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itle accent"/>
          <p:cNvSpPr/>
          <p:nvPr/>
        </p:nvSpPr>
        <p:spPr>
          <a:xfrm>
            <a:off x="731520" y="1463040"/>
            <a:ext cx="25560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itle accent"/>
          <p:cNvSpPr/>
          <p:nvPr/>
        </p:nvSpPr>
        <p:spPr>
          <a:xfrm>
            <a:off x="1005840" y="1463040"/>
            <a:ext cx="25560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Insert area"/>
          <p:cNvSpPr/>
          <p:nvPr/>
        </p:nvSpPr>
        <p:spPr>
          <a:xfrm>
            <a:off x="457200" y="1691640"/>
            <a:ext cx="4937400" cy="292572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5"/>
          <p:cNvSpPr/>
          <p:nvPr/>
        </p:nvSpPr>
        <p:spPr>
          <a:xfrm>
            <a:off x="640080" y="1874520"/>
            <a:ext cx="457164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5b3ba8"/>
                </a:solidFill>
                <a:latin typeface="Calibri"/>
                <a:ea typeface="Calibri"/>
              </a:rPr>
              <a:t>Insert circuit diagram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f7399"/>
                </a:solidFill>
                <a:latin typeface="Calibri"/>
                <a:ea typeface="Calibri"/>
              </a:rPr>
              <a:t>e.g. qc.draw("mpl")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6" name="Content card"/>
          <p:cNvSpPr/>
          <p:nvPr/>
        </p:nvSpPr>
        <p:spPr>
          <a:xfrm>
            <a:off x="5577840" y="1691640"/>
            <a:ext cx="310860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Card accent"/>
          <p:cNvSpPr/>
          <p:nvPr/>
        </p:nvSpPr>
        <p:spPr>
          <a:xfrm>
            <a:off x="5806440" y="1691640"/>
            <a:ext cx="822600" cy="54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8"/>
          <p:cNvSpPr/>
          <p:nvPr/>
        </p:nvSpPr>
        <p:spPr>
          <a:xfrm>
            <a:off x="5806440" y="18745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36720" anchor="t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c1c1c"/>
                </a:solidFill>
                <a:latin typeface="Calibri"/>
              </a:rPr>
              <a:t>1. Read sensors  2. classify open / blocked  3. update graph  4. run BFS / A*  5. execute one move  6. validate and replan.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c1c1c"/>
                </a:solidFill>
                <a:latin typeface="Calibri"/>
              </a:rPr>
              <a:t>For a small candidate-route problem, define binary decision variables and a cost combining route length, collision penalties, and constraint violations.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c1c1c"/>
                </a:solidFill>
                <a:latin typeface="Calibri"/>
              </a:rPr>
              <a:t>QAOA alternates a cost Hamiltonian and a mixing operator. A classical optimizer updates circuit parameters; measurements estimate candidate bitstrings.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c1c1c"/>
                </a:solidFill>
                <a:latin typeface="Calibri"/>
              </a:rPr>
              <a:t>Create a small circuit → run a simulator first → decode measured bitstrings → check feasibility → compare cost with the classical optimum.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sldNum" idx="8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1" lang="en-US" sz="900" spc="-1" strike="noStrike">
                <a:solidFill>
                  <a:srgbClr val="2e1b5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BC6A3A2-1F61-4A5C-987E-761E7DB667D9}" type="slidenum">
              <a:rPr b="1" lang="en-US" sz="900" spc="-1" strike="noStrike">
                <a:solidFill>
                  <a:srgbClr val="2e1b5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2e1b5b"/>
                </a:solidFill>
                <a:latin typeface="Georgia"/>
                <a:ea typeface="Georgia"/>
              </a:rPr>
              <a:t>Implementation </a:t>
            </a:r>
            <a:r>
              <a:rPr b="1" lang="en-US" sz="2600" spc="-1" strike="noStrike">
                <a:solidFill>
                  <a:srgbClr val="2e1b5b"/>
                </a:solidFill>
                <a:latin typeface="Georgia"/>
                <a:ea typeface="Georgia"/>
              </a:rPr>
              <a:t>&amp; Tech Stack</a:t>
            </a:r>
            <a:endParaRPr b="0" lang="en-US" sz="26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71" name="Title accent"/>
          <p:cNvSpPr/>
          <p:nvPr/>
        </p:nvSpPr>
        <p:spPr>
          <a:xfrm>
            <a:off x="457200" y="1463040"/>
            <a:ext cx="25560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itle accent"/>
          <p:cNvSpPr/>
          <p:nvPr/>
        </p:nvSpPr>
        <p:spPr>
          <a:xfrm>
            <a:off x="731520" y="1463040"/>
            <a:ext cx="25560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itle accent"/>
          <p:cNvSpPr/>
          <p:nvPr/>
        </p:nvSpPr>
        <p:spPr>
          <a:xfrm>
            <a:off x="1005840" y="1463040"/>
            <a:ext cx="25560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Content card"/>
          <p:cNvSpPr/>
          <p:nvPr/>
        </p:nvSpPr>
        <p:spPr>
          <a:xfrm>
            <a:off x="457200" y="1691640"/>
            <a:ext cx="822924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Card accent"/>
          <p:cNvSpPr/>
          <p:nvPr/>
        </p:nvSpPr>
        <p:spPr>
          <a:xfrm>
            <a:off x="685800" y="1691640"/>
            <a:ext cx="822600" cy="54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6"/>
          <p:cNvSpPr/>
          <p:nvPr/>
        </p:nvSpPr>
        <p:spPr>
          <a:xfrm>
            <a:off x="731520" y="18745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36720" anchor="t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PacBot maze environment with distance sensors, wheel commands, and gyro / motion feedback where available</a:t>
            </a:r>
            <a:endParaRPr b="0" lang="en-US" sz="1100" spc="-1" strike="noStrike">
              <a:solidFill>
                <a:srgbClr val="1c1c1c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Python for sensor handling, state machine, map updates, path planning, and safe stop / turn logic.</a:t>
            </a:r>
            <a:endParaRPr b="0" lang="en-US" sz="1100" spc="-1" strike="noStrike">
              <a:solidFill>
                <a:srgbClr val="1c1c1c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BFS or A* for path planning; wall detection, dead-end handling, and dynamic replanning.</a:t>
            </a:r>
            <a:endParaRPr b="0" lang="en-US" sz="1100" spc="-1" strike="noStrike">
              <a:solidFill>
                <a:srgbClr val="1c1c1c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Qiskit and a local quantum simulator for small proof-of-concept circuits; optional hardware execution if access is available.</a:t>
            </a:r>
            <a:endParaRPr b="0" lang="en-US" sz="1100" spc="-1" strike="noStrike">
              <a:solidFill>
                <a:srgbClr val="1c1c1c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1c1c1c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Num" idx="9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1" lang="en-US" sz="900" spc="-1" strike="noStrike">
                <a:solidFill>
                  <a:srgbClr val="2e1b5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4A52F0-8DD6-4CB5-83B7-90CD4DD5FD6E}" type="slidenum">
              <a:rPr b="1" lang="en-US" sz="900" spc="-1" strike="noStrike">
                <a:solidFill>
                  <a:srgbClr val="2e1b5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2e1b5b"/>
                </a:solidFill>
                <a:latin typeface="Georgia"/>
                <a:ea typeface="Georgia"/>
              </a:rPr>
              <a:t>Results &amp; </a:t>
            </a:r>
            <a:r>
              <a:rPr b="1" lang="en-US" sz="2600" spc="-1" strike="noStrike">
                <a:solidFill>
                  <a:srgbClr val="2e1b5b"/>
                </a:solidFill>
                <a:latin typeface="Georgia"/>
                <a:ea typeface="Georgia"/>
              </a:rPr>
              <a:t>Analysis</a:t>
            </a:r>
            <a:endParaRPr b="0" lang="en-US" sz="26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79" name="Title accent"/>
          <p:cNvSpPr/>
          <p:nvPr/>
        </p:nvSpPr>
        <p:spPr>
          <a:xfrm>
            <a:off x="457200" y="1463040"/>
            <a:ext cx="25560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itle accent"/>
          <p:cNvSpPr/>
          <p:nvPr/>
        </p:nvSpPr>
        <p:spPr>
          <a:xfrm>
            <a:off x="731520" y="1463040"/>
            <a:ext cx="25560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itle accent"/>
          <p:cNvSpPr/>
          <p:nvPr/>
        </p:nvSpPr>
        <p:spPr>
          <a:xfrm>
            <a:off x="1005840" y="1463040"/>
            <a:ext cx="25560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Insert area"/>
          <p:cNvSpPr/>
          <p:nvPr/>
        </p:nvSpPr>
        <p:spPr>
          <a:xfrm>
            <a:off x="457200" y="1691640"/>
            <a:ext cx="4937400" cy="292572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5"/>
          <p:cNvSpPr/>
          <p:nvPr/>
        </p:nvSpPr>
        <p:spPr>
          <a:xfrm>
            <a:off x="640080" y="1874520"/>
            <a:ext cx="457164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36720" anchor="t">
            <a:noAutofit/>
          </a:bodyPr>
          <a:p>
            <a:pPr algn="ctr">
              <a:lnSpc>
                <a:spcPct val="100000"/>
              </a:lnSpc>
              <a:spcAft>
                <a:spcPts val="99"/>
              </a:spcAft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8d8e6"/>
                </a:solidFill>
                <a:latin typeface="Calibri"/>
              </a:rPr>
              <a:t>Current status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bf1f8"/>
                </a:solidFill>
                <a:latin typeface="Calibri"/>
              </a:rPr>
              <a:t>This presentation describes the proposed design. No measured run data or verified quantum advantage was provided, so numerical results are </a:t>
            </a:r>
            <a:r>
              <a:rPr b="0" lang="en-US" sz="950" spc="-1" strike="noStrike">
                <a:solidFill>
                  <a:srgbClr val="1c1c1c"/>
                </a:solidFill>
                <a:latin typeface="Calibri"/>
              </a:rPr>
              <a:t>Run each maze repeatedly and record: success rate, path length, completion time, number of turns, collisions, and recovery events.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c1c1c"/>
                </a:solidFill>
                <a:latin typeface="Calibri"/>
              </a:rPr>
              <a:t>For small instances, compare route cost and feasibility against the exact classical optimum; record circuit shots, optimizer iterations, and simulator / hardware runtime.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c1c1c"/>
                </a:solidFill>
                <a:latin typeface="Calibri"/>
              </a:rPr>
              <a:t>Method | Path cost | Time | Success rate</a:t>
            </a:r>
            <a:br>
              <a:rPr sz="950"/>
            </a:br>
            <a:r>
              <a:rPr b="0" lang="en-US" sz="950" spc="-1" strike="noStrike">
                <a:solidFill>
                  <a:srgbClr val="1c1c1c"/>
                </a:solidFill>
                <a:latin typeface="Calibri"/>
              </a:rPr>
              <a:t>BFS / A* | Measure | Measure | Measure</a:t>
            </a:r>
            <a:br>
              <a:rPr sz="950"/>
            </a:br>
            <a:r>
              <a:rPr b="0" lang="en-US" sz="950" spc="-1" strike="noStrike">
                <a:solidFill>
                  <a:srgbClr val="1c1c1c"/>
                </a:solidFill>
                <a:latin typeface="Calibri"/>
              </a:rPr>
              <a:t>Quantum / hybrid | Measure | Measure | Measure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c1c1c"/>
                </a:solidFill>
                <a:latin typeface="Calibri"/>
              </a:rPr>
              <a:t>Use identical test cases and report averages across repeated runs. Separate simulator results from real hardware results.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84" name="Content card"/>
          <p:cNvSpPr/>
          <p:nvPr/>
        </p:nvSpPr>
        <p:spPr>
          <a:xfrm>
            <a:off x="5577840" y="1691640"/>
            <a:ext cx="310860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Card accent"/>
          <p:cNvSpPr/>
          <p:nvPr/>
        </p:nvSpPr>
        <p:spPr>
          <a:xfrm>
            <a:off x="5806440" y="1691640"/>
            <a:ext cx="822600" cy="54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8"/>
          <p:cNvSpPr/>
          <p:nvPr/>
        </p:nvSpPr>
        <p:spPr>
          <a:xfrm>
            <a:off x="5806440" y="18745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f7399"/>
                </a:solidFill>
                <a:latin typeface="Calibri"/>
                <a:ea typeface="Calibri"/>
              </a:rPr>
              <a:t>Add key details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sldNum" idx="10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1" lang="en-US" sz="900" spc="-1" strike="noStrike">
                <a:solidFill>
                  <a:srgbClr val="2e1b5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D92A6B4-EFCD-47A3-8813-9D1FB77BE3AC}" type="slidenum">
              <a:rPr b="1" lang="en-US" sz="900" spc="-1" strike="noStrike">
                <a:solidFill>
                  <a:srgbClr val="2e1b5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2e1b5b"/>
                </a:solidFill>
                <a:latin typeface="Georgia"/>
                <a:ea typeface="Georgia"/>
              </a:rPr>
              <a:t>Impact &amp; Real-World Applications</a:t>
            </a:r>
            <a:endParaRPr b="0" lang="en-US" sz="26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89" name="Title accent"/>
          <p:cNvSpPr/>
          <p:nvPr/>
        </p:nvSpPr>
        <p:spPr>
          <a:xfrm>
            <a:off x="457200" y="1463040"/>
            <a:ext cx="25560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itle accent"/>
          <p:cNvSpPr/>
          <p:nvPr/>
        </p:nvSpPr>
        <p:spPr>
          <a:xfrm>
            <a:off x="731520" y="1463040"/>
            <a:ext cx="25560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itle accent"/>
          <p:cNvSpPr/>
          <p:nvPr/>
        </p:nvSpPr>
        <p:spPr>
          <a:xfrm>
            <a:off x="1005840" y="1463040"/>
            <a:ext cx="25560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Content card"/>
          <p:cNvSpPr/>
          <p:nvPr/>
        </p:nvSpPr>
        <p:spPr>
          <a:xfrm>
            <a:off x="457200" y="1691640"/>
            <a:ext cx="822924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Card accent"/>
          <p:cNvSpPr/>
          <p:nvPr/>
        </p:nvSpPr>
        <p:spPr>
          <a:xfrm>
            <a:off x="685800" y="1691640"/>
            <a:ext cx="822600" cy="54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6"/>
          <p:cNvSpPr/>
          <p:nvPr/>
        </p:nvSpPr>
        <p:spPr>
          <a:xfrm>
            <a:off x="731520" y="18745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36720" anchor="t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Route planning for moving goods between shelves while avoiding blocked aisles.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Explore unfamiliar or hazardous spaces and adapt when routes become inaccessible.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Navigate hospital corridors or inspect industrial areas while transporting supplies or collecting data.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</a:rPr>
              <a:t>Plan movement over unfamiliar terrain where communication is delayed and autonomy is important.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ldNum" idx="11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1" lang="en-US" sz="900" spc="-1" strike="noStrike">
                <a:solidFill>
                  <a:srgbClr val="2e1b5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815EBE-0666-482A-B647-A2CAF085002A}" type="slidenum">
              <a:rPr b="1" lang="en-US" sz="900" spc="-1" strike="noStrike">
                <a:solidFill>
                  <a:srgbClr val="2e1b5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>
        <p14:honeycomb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2e1b5b"/>
                </a:solidFill>
                <a:latin typeface="Georgia"/>
                <a:ea typeface="Georgia"/>
              </a:rPr>
              <a:t>Challenges &amp; Future Scope</a:t>
            </a:r>
            <a:endParaRPr b="0" lang="en-US" sz="2600" spc="-1" strike="noStrike">
              <a:solidFill>
                <a:srgbClr val="2e1b5b"/>
              </a:solidFill>
              <a:latin typeface="Calibri"/>
            </a:endParaRPr>
          </a:p>
        </p:txBody>
      </p:sp>
      <p:sp>
        <p:nvSpPr>
          <p:cNvPr id="197" name="Title accent"/>
          <p:cNvSpPr/>
          <p:nvPr/>
        </p:nvSpPr>
        <p:spPr>
          <a:xfrm>
            <a:off x="457200" y="1463040"/>
            <a:ext cx="25560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itle accent"/>
          <p:cNvSpPr/>
          <p:nvPr/>
        </p:nvSpPr>
        <p:spPr>
          <a:xfrm>
            <a:off x="731520" y="1463040"/>
            <a:ext cx="25560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itle accent"/>
          <p:cNvSpPr/>
          <p:nvPr/>
        </p:nvSpPr>
        <p:spPr>
          <a:xfrm>
            <a:off x="1005840" y="1463040"/>
            <a:ext cx="25560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Content card"/>
          <p:cNvSpPr/>
          <p:nvPr/>
        </p:nvSpPr>
        <p:spPr>
          <a:xfrm>
            <a:off x="457200" y="1691640"/>
            <a:ext cx="822924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Card accent"/>
          <p:cNvSpPr/>
          <p:nvPr/>
        </p:nvSpPr>
        <p:spPr>
          <a:xfrm>
            <a:off x="685800" y="1691640"/>
            <a:ext cx="822600" cy="54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6"/>
          <p:cNvSpPr/>
          <p:nvPr/>
        </p:nvSpPr>
        <p:spPr>
          <a:xfrm>
            <a:off x="731520" y="18745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36720" anchor="t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c1c1c"/>
                </a:solidFill>
                <a:latin typeface="Calibri"/>
              </a:rPr>
              <a:t>Noisy distance readings, inaccurate turns, incomplete maps, dynamic obstacles, and limited compute time.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c1c1c"/>
                </a:solidFill>
                <a:latin typeface="Calibri"/>
              </a:rPr>
              <a:t>Small qubit counts, noise, sampling cost, and problem-encoding overhead can outweigh benefits on small mazes.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c1c1c"/>
                </a:solidFill>
                <a:latin typeface="Calibri"/>
              </a:rPr>
              <a:t>1. Stabilize sensor and turn logic  2. validate BFS / A*  3. log benchmark data  4. build a tiny QAOA example in Qiskit.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c1c1c"/>
                </a:solidFill>
                <a:latin typeface="Calibri"/>
              </a:rPr>
              <a:t>Extend to 3D / multi-level maps, multi-robot coordination, learned cost estimates, and hybrid quantum-classical planning.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d25c"/>
                </a:solidFill>
                <a:latin typeface="Calibri"/>
              </a:rPr>
              <a:t>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sldNum" idx="12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1" lang="en-US" sz="900" spc="-1" strike="noStrike">
                <a:solidFill>
                  <a:srgbClr val="2e1b5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46A6DE9-EDC1-4005-9605-D256D7BCD10D}" type="slidenum">
              <a:rPr b="1" lang="en-US" sz="900" spc="-1" strike="noStrike">
                <a:solidFill>
                  <a:srgbClr val="2e1b5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/>
          <p:nvPr/>
        </p:nvSpPr>
        <p:spPr>
          <a:xfrm>
            <a:off x="457200" y="9144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299" strike="noStrike">
                <a:solidFill>
                  <a:srgbClr val="e8639f"/>
                </a:solidFill>
                <a:latin typeface="Calibri"/>
                <a:ea typeface="Calibri"/>
              </a:rPr>
              <a:t>CLOSING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457200" y="1188720"/>
            <a:ext cx="4754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2e1b5b"/>
                </a:solidFill>
                <a:latin typeface="Georgia"/>
                <a:ea typeface="Georgia"/>
              </a:rPr>
              <a:t>Thank You</a:t>
            </a:r>
            <a:endParaRPr b="0" lang="en-US" sz="4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e8639f"/>
                </a:solidFill>
                <a:latin typeface="Georgia"/>
                <a:ea typeface="Georgia"/>
              </a:rPr>
              <a:t>Questions?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206" name="Text 2"/>
          <p:cNvSpPr/>
          <p:nvPr/>
        </p:nvSpPr>
        <p:spPr>
          <a:xfrm>
            <a:off x="457200" y="278892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f7399"/>
                </a:solidFill>
                <a:latin typeface="Calibri"/>
                <a:ea typeface="Calibri"/>
              </a:rPr>
              <a:t>Inspiring Minds. Shaping Tomorrow.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7" name="Field: GITHUB REPOSITORY"/>
          <p:cNvSpPr/>
          <p:nvPr/>
        </p:nvSpPr>
        <p:spPr>
          <a:xfrm>
            <a:off x="457200" y="3291840"/>
            <a:ext cx="228564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2e1b5b"/>
                </a:solidFill>
                <a:latin typeface="Calibri"/>
              </a:rPr>
              <a:t>GITHUB REPOSITORY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2e1b5b"/>
                </a:solidFill>
                <a:latin typeface="Calibri"/>
              </a:rPr>
              <a:t>https://github.com/m77748712-arch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8" name="Field: DEMO VIDEO LINK"/>
          <p:cNvSpPr/>
          <p:nvPr/>
        </p:nvSpPr>
        <p:spPr>
          <a:xfrm>
            <a:off x="2834640" y="3291840"/>
            <a:ext cx="228564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2e1b5b"/>
                </a:solidFill>
                <a:latin typeface="Calibri"/>
              </a:rPr>
              <a:t>DEMO VIDEO LINK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2e1b5b"/>
                </a:solidFill>
                <a:latin typeface="Calibri"/>
              </a:rPr>
              <a:t>https://youtu.be/ym9FbPSPQlY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09" name="Bloch sphere ring" descr="sphere.png"/>
          <p:cNvPicPr/>
          <p:nvPr/>
        </p:nvPicPr>
        <p:blipFill>
          <a:blip r:embed="rId1"/>
          <a:stretch/>
        </p:blipFill>
        <p:spPr>
          <a:xfrm>
            <a:off x="5486400" y="1097280"/>
            <a:ext cx="3200040" cy="3200040"/>
          </a:xfrm>
          <a:prstGeom prst="rect">
            <a:avLst/>
          </a:prstGeom>
          <a:ln w="0">
            <a:noFill/>
          </a:ln>
        </p:spPr>
      </p:pic>
      <p:pic>
        <p:nvPicPr>
          <p:cNvPr id="210" name="Image 1" descr="bird1.png"/>
          <p:cNvPicPr/>
          <p:nvPr/>
        </p:nvPicPr>
        <p:blipFill>
          <a:blip r:embed="rId2"/>
          <a:stretch/>
        </p:blipFill>
        <p:spPr>
          <a:xfrm>
            <a:off x="5029200" y="914400"/>
            <a:ext cx="822600" cy="493560"/>
          </a:xfrm>
          <a:prstGeom prst="rect">
            <a:avLst/>
          </a:prstGeom>
          <a:ln w="0">
            <a:noFill/>
          </a:ln>
        </p:spPr>
      </p:pic>
      <p:pic>
        <p:nvPicPr>
          <p:cNvPr id="211" name="Image 2" descr="bird2.png"/>
          <p:cNvPicPr/>
          <p:nvPr/>
        </p:nvPicPr>
        <p:blipFill>
          <a:blip r:embed="rId3"/>
          <a:stretch/>
        </p:blipFill>
        <p:spPr>
          <a:xfrm>
            <a:off x="4754880" y="3840480"/>
            <a:ext cx="548280" cy="328680"/>
          </a:xfrm>
          <a:prstGeom prst="rect">
            <a:avLst/>
          </a:prstGeom>
          <a:ln w="0">
            <a:noFill/>
          </a:ln>
        </p:spPr>
      </p:pic>
      <p:pic>
        <p:nvPicPr>
          <p:cNvPr id="212" name="Image 3" descr="bird3.png"/>
          <p:cNvPicPr/>
          <p:nvPr/>
        </p:nvPicPr>
        <p:blipFill>
          <a:blip r:embed="rId4"/>
          <a:stretch/>
        </p:blipFill>
        <p:spPr>
          <a:xfrm>
            <a:off x="8229600" y="4023360"/>
            <a:ext cx="456840" cy="273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Milinda B Raj</dc:creator>
  <dc:description/>
  <cp:keywords>PacBot maze navigation Qiskit quantum optimization robotics</cp:keywords>
  <dc:language>en-US</dc:language>
  <cp:lastModifiedBy/>
  <dcterms:modified xsi:type="dcterms:W3CDTF">2026-10-22T20:39:31Z</dcterms:modified>
  <cp:revision>3</cp:revision>
  <dc:subject>Qiskit Fall Fest 2026 participant presentation</dc:subject>
  <dc:title>Quantum PacBot: Quantum-Inspired Autonomous Maze Navigation</dc:title>
</cp:coreProperties>
</file>